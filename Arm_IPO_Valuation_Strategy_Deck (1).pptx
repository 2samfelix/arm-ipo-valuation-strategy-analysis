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8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3" r:id="rId14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  <Relationship Id="rId14" Type="http://schemas.openxmlformats.org/officeDocument/2006/relationships/slide" Target="slides/slide8.xml"/>
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Arm Holdings IPO Valuation &amp; Strategy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9692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FFFF"/>
                </a:solidFill>
              </a:rPr>
              <a:t>Was the $51 September 2023 IPO price justified — and did post-IPO growth validate the premium?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303520"/>
            <a:ext cx="9692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</a:rPr>
              <a:t>Sam Felix |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365D"/>
                </a:solidFill>
              </a:rPr>
              <a:t>1. IPO Transaction &amp;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</a:rPr>
              <a:t>Secondary offering priced at the top of the marketed 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A5A5A"/>
                </a:solidFill>
              </a:rPr>
              <a:t>Sam Felix | Arm IPO Valuation &amp; Strategy Analysis |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103120" cy="1188720"/>
          </a:xfrm>
          <a:prstGeom prst="roundRect">
            <a:avLst/>
          </a:prstGeom>
          <a:solidFill>
            <a:srgbClr val="EAF2F8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7365D"/>
                </a:solidFill>
              </a:rPr>
              <a:t>$51</a:t>
            </a:r>
          </a:p>
          <a:p>
            <a:pPr algn="ctr"/>
            <a:r>
              <a:rPr sz="1000">
                <a:solidFill>
                  <a:srgbClr val="5A5A5A"/>
                </a:solidFill>
              </a:rPr>
              <a:t>IPO Price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3240" y="1463040"/>
            <a:ext cx="2103120" cy="1188720"/>
          </a:xfrm>
          <a:prstGeom prst="roundRect">
            <a:avLst/>
          </a:prstGeom>
          <a:solidFill>
            <a:srgbClr val="EAF2F8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7365D"/>
                </a:solidFill>
              </a:rPr>
              <a:t>102.5M</a:t>
            </a:r>
          </a:p>
          <a:p>
            <a:pPr algn="ctr"/>
            <a:r>
              <a:rPr sz="1000">
                <a:solidFill>
                  <a:srgbClr val="5A5A5A"/>
                </a:solidFill>
              </a:rPr>
              <a:t>ADSs Sold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1463040"/>
            <a:ext cx="2103120" cy="1188720"/>
          </a:xfrm>
          <a:prstGeom prst="roundRect">
            <a:avLst/>
          </a:prstGeom>
          <a:solidFill>
            <a:srgbClr val="EAF2F8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7365D"/>
                </a:solidFill>
              </a:rPr>
              <a:t>$4.87B</a:t>
            </a:r>
          </a:p>
          <a:p>
            <a:pPr algn="ctr"/>
            <a:r>
              <a:rPr sz="1000">
                <a:solidFill>
                  <a:srgbClr val="5A5A5A"/>
                </a:solidFill>
              </a:rPr>
              <a:t>Base Offering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463040"/>
            <a:ext cx="2103120" cy="1188720"/>
          </a:xfrm>
          <a:prstGeom prst="roundRect">
            <a:avLst/>
          </a:prstGeom>
          <a:solidFill>
            <a:srgbClr val="EAF2F8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7365D"/>
                </a:solidFill>
              </a:rPr>
              <a:t>$0</a:t>
            </a:r>
          </a:p>
          <a:p>
            <a:pPr algn="ctr"/>
            <a:r>
              <a:rPr sz="1000">
                <a:solidFill>
                  <a:srgbClr val="5A5A5A"/>
                </a:solidFill>
              </a:rPr>
              <a:t>Arm Proceeds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463040"/>
            <a:ext cx="1463040" cy="1188720"/>
          </a:xfrm>
          <a:prstGeom prst="roundRect">
            <a:avLst/>
          </a:prstGeom>
          <a:solidFill>
            <a:srgbClr val="EAF2F8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7365D"/>
                </a:solidFill>
              </a:rPr>
              <a:t>~1.03B</a:t>
            </a:r>
          </a:p>
          <a:p>
            <a:pPr algn="ctr"/>
            <a:r>
              <a:rPr sz="1000">
                <a:solidFill>
                  <a:srgbClr val="5A5A5A"/>
                </a:solidFill>
              </a:rPr>
              <a:t>Post-IPO Shares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10698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Arm’s IPO was entirely secondary: SoftBank sold shares and retained control.</a:t>
            </a:r>
          </a:p>
          <a:p>
            <a:pPr>
              <a:spcAft>
                <a:spcPts val="1000"/>
              </a:spcAft>
              <a:defRPr sz="1900"/>
            </a:pPr>
            <a:r>
              <a:t>The valuation case rested on recurring royalties, near-100% gross margins, Armv9, and expansion into cloud/automotive.</a:t>
            </a:r>
          </a:p>
          <a:p>
            <a:pPr>
              <a:spcAft>
                <a:spcPts val="1000"/>
              </a:spcAft>
              <a:defRPr sz="1900"/>
            </a:pPr>
            <a:r>
              <a:t>The key question is whether Arm deserved to trade above conventional semiconductor peers.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365D"/>
                </a:solidFill>
              </a:rPr>
              <a:t>2. Comparable Company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</a:rPr>
              <a:t>Six-company peer group measured around September 13, 2023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A5A5A"/>
                </a:solidFill>
              </a:rPr>
              <a:t>Sam Felix | Arm IPO Valuation &amp; Strategy Analysis | August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17320"/>
          <a:ext cx="6583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53721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Company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EV/Revenue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EV/EBITDA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P/E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100"/>
                        <a:t>Synopsys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14.4x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50.5x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68.3x</a:t>
                      </a:r>
                    </a:p>
                  </a:txBody>
                  <a:tcPr/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100"/>
                        <a:t>Cadence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17.2x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53.1x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73.6x</a:t>
                      </a:r>
                    </a:p>
                  </a:txBody>
                  <a:tcPr/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100"/>
                        <a:t>NVIDIA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34.2x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90.2x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108.8x</a:t>
                      </a:r>
                    </a:p>
                  </a:txBody>
                  <a:tcPr/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100"/>
                        <a:t>AMD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7.8x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43.2x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N.M.</a:t>
                      </a:r>
                    </a:p>
                  </a:txBody>
                  <a:tcPr/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100"/>
                        <a:t>Qualcomm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3.4x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11.1x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14.6x</a:t>
                      </a:r>
                    </a:p>
                  </a:txBody>
                  <a:tcPr/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100"/>
                        <a:t>Broadcom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10.7x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19.0x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25.4x</a:t>
                      </a:r>
                    </a:p>
                  </a:txBody>
                  <a:tcPr/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100"/>
                        <a:t>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12.6x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46.9x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68.3x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26679" y="1554480"/>
            <a:ext cx="374903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Arm IPO EV/Revenue: 18.7x</a:t>
            </a:r>
          </a:p>
          <a:p>
            <a:pPr>
              <a:spcAft>
                <a:spcPts val="1000"/>
              </a:spcAft>
              <a:defRPr sz="1700"/>
            </a:pPr>
            <a:r>
              <a:t>~49% premium to the six-peer median</a:t>
            </a:r>
          </a:p>
          <a:p>
            <a:pPr>
              <a:spcAft>
                <a:spcPts val="1000"/>
              </a:spcAft>
              <a:defRPr sz="1700"/>
            </a:pPr>
            <a:r>
              <a:t>Closest business-model references are Synopsys and Cadence</a:t>
            </a:r>
          </a:p>
          <a:p>
            <a:pPr>
              <a:spcAft>
                <a:spcPts val="1000"/>
              </a:spcAft>
              <a:defRPr sz="1700"/>
            </a:pPr>
            <a:r>
              <a:t>NVIDIA represents a premium-growth ceiling rather than a direct comp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365D"/>
                </a:solidFill>
              </a:rPr>
              <a:t>3. IPO Valuation Range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</a:rPr>
              <a:t>Comp-based fair value landed below the $51 offer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A5A5A"/>
                </a:solidFill>
              </a:rPr>
              <a:t>Sam Felix | Arm IPO Valuation &amp; Strategy Analysis | August 2026</a:t>
            </a:r>
          </a:p>
        </p:txBody>
      </p:sp>
      <p:pic>
        <p:nvPicPr>
          <p:cNvPr id="5" name="Picture 4" descr="arm_ipo_valuati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675120" cy="37093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35240" y="1417320"/>
            <a:ext cx="3931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Full peer median → ~$35/share</a:t>
            </a:r>
          </a:p>
          <a:p>
            <a:pPr>
              <a:spcAft>
                <a:spcPts val="1000"/>
              </a:spcAft>
              <a:defRPr sz="1700"/>
            </a:pPr>
            <a:r>
              <a:t>Core IP/EDA reference → ~$43/share</a:t>
            </a:r>
          </a:p>
          <a:p>
            <a:pPr>
              <a:spcAft>
                <a:spcPts val="1000"/>
              </a:spcAft>
              <a:defRPr sz="1700"/>
            </a:pPr>
            <a:r>
              <a:t>75th percentile → ~$45/share</a:t>
            </a:r>
          </a:p>
          <a:p>
            <a:pPr>
              <a:spcAft>
                <a:spcPts val="1000"/>
              </a:spcAft>
              <a:defRPr sz="1700"/>
            </a:pPr>
            <a:r>
              <a:t>$51 IPO price implied an 11–15% premium to the most relevant reference range.</a:t>
            </a:r>
          </a:p>
          <a:p>
            <a:pPr>
              <a:spcAft>
                <a:spcPts val="1000"/>
              </a:spcAft>
              <a:defRPr sz="1700"/>
            </a:pPr>
            <a:r>
              <a:t>Conclusion: aggressive / premium-priced, but not irrational.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365D"/>
                </a:solidFill>
              </a:rPr>
              <a:t>4. Post-IPO Operating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</a:rPr>
              <a:t>Both license and royalty revenue expanded materially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A5A5A"/>
                </a:solidFill>
              </a:rPr>
              <a:t>Sam Felix | Arm IPO Valuation &amp; Strategy Analysis | August 2026</a:t>
            </a:r>
          </a:p>
        </p:txBody>
      </p:sp>
      <p:pic>
        <p:nvPicPr>
          <p:cNvPr id="5" name="Picture 4" descr="arm_revenue_mix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858000" cy="380662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554480"/>
            <a:ext cx="1645920" cy="1097280"/>
          </a:xfrm>
          <a:prstGeom prst="roundRect">
            <a:avLst/>
          </a:prstGeom>
          <a:solidFill>
            <a:srgbClr val="EAF2F8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7365D"/>
                </a:solidFill>
              </a:rPr>
              <a:t>22.5%</a:t>
            </a:r>
          </a:p>
          <a:p>
            <a:pPr algn="ctr"/>
            <a:r>
              <a:rPr sz="1000">
                <a:solidFill>
                  <a:srgbClr val="5A5A5A"/>
                </a:solidFill>
              </a:rPr>
              <a:t>Revenue CAGR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38360" y="1554480"/>
            <a:ext cx="1645920" cy="1097280"/>
          </a:xfrm>
          <a:prstGeom prst="roundRect">
            <a:avLst/>
          </a:prstGeom>
          <a:solidFill>
            <a:srgbClr val="EAF2F8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7365D"/>
                </a:solidFill>
              </a:rPr>
              <a:t>32.0%</a:t>
            </a:r>
          </a:p>
          <a:p>
            <a:pPr algn="ctr"/>
            <a:r>
              <a:rPr sz="1000">
                <a:solidFill>
                  <a:srgbClr val="5A5A5A"/>
                </a:solidFill>
              </a:rPr>
              <a:t>License CAGR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926080"/>
            <a:ext cx="1645920" cy="1097280"/>
          </a:xfrm>
          <a:prstGeom prst="roundRect">
            <a:avLst/>
          </a:prstGeom>
          <a:solidFill>
            <a:srgbClr val="EAF2F8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7365D"/>
                </a:solidFill>
              </a:rPr>
              <a:t>16.0%</a:t>
            </a:r>
          </a:p>
          <a:p>
            <a:pPr algn="ctr"/>
            <a:r>
              <a:rPr sz="1000">
                <a:solidFill>
                  <a:srgbClr val="5A5A5A"/>
                </a:solidFill>
              </a:rPr>
              <a:t>Royalty CAGR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38360" y="2926080"/>
            <a:ext cx="1645920" cy="1097280"/>
          </a:xfrm>
          <a:prstGeom prst="roundRect">
            <a:avLst/>
          </a:prstGeom>
          <a:solidFill>
            <a:srgbClr val="EAF2F8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7365D"/>
                </a:solidFill>
              </a:rPr>
              <a:t>19.9%</a:t>
            </a:r>
          </a:p>
          <a:p>
            <a:pPr algn="ctr"/>
            <a:r>
              <a:rPr sz="1000">
                <a:solidFill>
                  <a:srgbClr val="5A5A5A"/>
                </a:solidFill>
              </a:rPr>
              <a:t>Net Income CAGR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434340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FY2023 → FY2026</a:t>
            </a:r>
          </a:p>
          <a:p>
            <a:pPr>
              <a:spcAft>
                <a:spcPts val="1000"/>
              </a:spcAft>
              <a:defRPr sz="1600"/>
            </a:pPr>
            <a:r>
              <a:t>Underlying growth supports a meaningful part of the IPO premium.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365D"/>
                </a:solidFill>
              </a:rPr>
              <a:t>5. Market Performance &amp; Strategic Read-Through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</a:rPr>
              <a:t>Strong re-rating, but high valuation remains sensitive to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A5A5A"/>
                </a:solidFill>
              </a:rPr>
              <a:t>Sam Felix | Arm IPO Valuation &amp; Strategy Analysis | August 2026</a:t>
            </a:r>
          </a:p>
        </p:txBody>
      </p:sp>
      <p:pic>
        <p:nvPicPr>
          <p:cNvPr id="5" name="Picture 4" descr="arm_stock_milest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675120" cy="37239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52360" y="1417320"/>
            <a:ext cx="4160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First-day close: $63.59 (+24.7%)</a:t>
            </a:r>
          </a:p>
          <a:p>
            <a:pPr>
              <a:spcAft>
                <a:spcPts val="1000"/>
              </a:spcAft>
              <a:defRPr sz="1600"/>
            </a:pPr>
            <a:r>
              <a:t>Lock-up expiry close (Mar. 2024): $129.50</a:t>
            </a:r>
          </a:p>
          <a:p>
            <a:pPr>
              <a:spcAft>
                <a:spcPts val="1000"/>
              </a:spcAft>
              <a:defRPr sz="1600"/>
            </a:pPr>
            <a:r>
              <a:t>Recent July 2026 reference: $266.43</a:t>
            </a:r>
          </a:p>
          <a:p>
            <a:pPr>
              <a:spcAft>
                <a:spcPts val="1000"/>
              </a:spcAft>
              <a:defRPr sz="1600"/>
            </a:pPr>
            <a:r>
              <a:t>Q1 FY2027 revenue beat expectations, but shares fell ~7% after hours on smartphone royalty caution.</a:t>
            </a:r>
          </a:p>
          <a:p>
            <a:pPr>
              <a:spcAft>
                <a:spcPts val="1000"/>
              </a:spcAft>
              <a:defRPr sz="1600"/>
            </a:pPr>
            <a:r>
              <a:t>Premium valuation requires consistently strong AI/data-center and royalty execution.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365D"/>
                </a:solidFill>
              </a:rPr>
              <a:t>7. Final Verdict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</a:rPr>
              <a:t>Successful premium IPO; long-term justification depends on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A5A5A"/>
                </a:solidFill>
              </a:rPr>
              <a:t>Sam Felix | Arm IPO Valuation &amp; Strategy Analysis |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2377440" cy="1280160"/>
          </a:xfrm>
          <a:prstGeom prst="roundRect">
            <a:avLst/>
          </a:prstGeom>
          <a:solidFill>
            <a:srgbClr val="EAF2F8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7365D"/>
                </a:solidFill>
              </a:rPr>
              <a:t>$43–$45</a:t>
            </a:r>
          </a:p>
          <a:p>
            <a:pPr algn="ctr"/>
            <a:r>
              <a:rPr sz="1000">
                <a:solidFill>
                  <a:srgbClr val="5A5A5A"/>
                </a:solidFill>
              </a:rPr>
              <a:t>Comp-Based Range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377440" cy="1280160"/>
          </a:xfrm>
          <a:prstGeom prst="roundRect">
            <a:avLst/>
          </a:prstGeom>
          <a:solidFill>
            <a:srgbClr val="EAF2F8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7365D"/>
                </a:solidFill>
              </a:rPr>
              <a:t>$51</a:t>
            </a:r>
          </a:p>
          <a:p>
            <a:pPr algn="ctr"/>
            <a:r>
              <a:rPr sz="1000">
                <a:solidFill>
                  <a:srgbClr val="5A5A5A"/>
                </a:solidFill>
              </a:rPr>
              <a:t>IPO Price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2377440" cy="1280160"/>
          </a:xfrm>
          <a:prstGeom prst="roundRect">
            <a:avLst/>
          </a:prstGeom>
          <a:solidFill>
            <a:srgbClr val="EAF2F8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7365D"/>
                </a:solidFill>
              </a:rPr>
              <a:t>$63.59</a:t>
            </a:r>
          </a:p>
          <a:p>
            <a:pPr algn="ctr"/>
            <a:r>
              <a:rPr sz="1000">
                <a:solidFill>
                  <a:srgbClr val="5A5A5A"/>
                </a:solidFill>
              </a:rPr>
              <a:t>First-Day Close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1463040"/>
            <a:ext cx="2377440" cy="1280160"/>
          </a:xfrm>
          <a:prstGeom prst="roundRect">
            <a:avLst/>
          </a:prstGeom>
          <a:solidFill>
            <a:srgbClr val="EAF2F8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7365D"/>
                </a:solidFill>
              </a:rPr>
              <a:t>22.5%</a:t>
            </a:r>
          </a:p>
          <a:p>
            <a:pPr algn="ctr"/>
            <a:r>
              <a:rPr sz="1000">
                <a:solidFill>
                  <a:srgbClr val="5A5A5A"/>
                </a:solidFill>
              </a:rPr>
              <a:t>FY23–FY26 Revenue CAGR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107899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Arm was premium-priced by roughly 11–15% versus the closest public-market references.</a:t>
            </a:r>
          </a:p>
          <a:p>
            <a:pPr>
              <a:spcAft>
                <a:spcPts val="1000"/>
              </a:spcAft>
              <a:defRPr sz="1800"/>
            </a:pPr>
            <a:r>
              <a:t>SoftBank still achieved a successful transaction: strong pricing plus substantial aftermarket demand.</a:t>
            </a:r>
          </a:p>
          <a:p>
            <a:pPr>
              <a:spcAft>
                <a:spcPts val="1000"/>
              </a:spcAft>
              <a:defRPr sz="1800"/>
            </a:pPr>
            <a:r>
              <a:t>Post-IPO revenue and earnings grew substantially (1.67x) — but the market re-rated the multiple even further (3.20x).</a:t>
            </a:r>
          </a:p>
          <a:p>
            <a:pPr>
              <a:spcAft>
                <a:spcPts val="1000"/>
              </a:spcAft>
              <a:defRPr sz="1800"/>
            </a:pPr>
            <a:r>
              <a:t>Key risks: valuation re-rating risk, smartphone concentration, Arm China, RISC-V, SoftBank control, and data-center execution.</a:t>
            </a:r>
          </a:p>
          <a:p>
            <a:pPr>
              <a:spcAft>
                <a:spcPts val="1000"/>
              </a:spcAft>
              <a:defRPr sz="1800"/>
            </a:pPr>
            <a:r>
              <a:t>The 11–15% IPO premium looks conservative in hindsight, not aggressive, relative to where the market ultimately priced Arm.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365D"/>
                </a:solidFill>
              </a:rPr>
              <a:t>6.5 Valuation Evolution: IPO vs. Current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</a:rPr>
              <a:t>Total return decomposes into earnings growth and multiple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A5A5A"/>
                </a:solidFill>
              </a:rPr>
              <a:t>Sam Felix | Arm IPO Valuation &amp; Strategy Analysis |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2377440" cy="1280160"/>
          </a:xfrm>
          <a:prstGeom prst="roundRect">
            <a:avLst/>
          </a:prstGeom>
          <a:solidFill>
            <a:srgbClr val="EAF2F8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7365D"/>
                </a:solidFill>
              </a:rPr>
              <a:t>5.34x</a:t>
            </a:r>
          </a:p>
          <a:p>
            <a:pPr algn="ctr"/>
            <a:r>
              <a:rPr sz="1000">
                <a:solidFill>
                  <a:srgbClr val="5A5A5A"/>
                </a:solidFill>
              </a:rPr>
              <a:t>Total Return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377440" cy="1280160"/>
          </a:xfrm>
          <a:prstGeom prst="roundRect">
            <a:avLst/>
          </a:prstGeom>
          <a:solidFill>
            <a:srgbClr val="EAF2F8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7365D"/>
                </a:solidFill>
              </a:rPr>
              <a:t>1.67x</a:t>
            </a:r>
          </a:p>
          <a:p>
            <a:pPr algn="ctr"/>
            <a:r>
              <a:rPr sz="1000">
                <a:solidFill>
                  <a:srgbClr val="5A5A5A"/>
                </a:solidFill>
              </a:rPr>
              <a:t>From EPS Growth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2377440" cy="1280160"/>
          </a:xfrm>
          <a:prstGeom prst="roundRect">
            <a:avLst/>
          </a:prstGeom>
          <a:solidFill>
            <a:srgbClr val="EAF2F8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7365D"/>
                </a:solidFill>
              </a:rPr>
              <a:t>3.20x</a:t>
            </a:r>
          </a:p>
          <a:p>
            <a:pPr algn="ctr"/>
            <a:r>
              <a:rPr sz="1000">
                <a:solidFill>
                  <a:srgbClr val="5A5A5A"/>
                </a:solidFill>
              </a:rPr>
              <a:t>From P/E Expansion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1463040"/>
            <a:ext cx="2377440" cy="1280160"/>
          </a:xfrm>
          <a:prstGeom prst="roundRect">
            <a:avLst/>
          </a:prstGeom>
          <a:solidFill>
            <a:srgbClr val="EAF2F8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7365D"/>
                </a:solidFill>
              </a:rPr>
              <a:t>3.11x</a:t>
            </a:r>
          </a:p>
          <a:p>
            <a:pPr algn="ctr"/>
            <a:r>
              <a:rPr sz="1000">
                <a:solidFill>
                  <a:srgbClr val="5A5A5A"/>
                </a:solidFill>
              </a:rPr>
              <a:t>EV/Revenue Confirms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107899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Arm's 5.34x total shareholder return since IPO splits exactly into 1.67x from EPS growth and 3.20x from P/E expansion.</a:t>
            </a:r>
          </a:p>
          <a:p>
            <a:pPr>
              <a:spcAft>
                <a:spcPts val="1000"/>
              </a:spcAft>
              <a:defRPr sz="1800"/>
            </a:pPr>
            <a:r>
              <a:t>EV/Revenue expanded a closely matching 3.11x — two independent multiples confirming the same re-rating.</a:t>
            </a:r>
          </a:p>
          <a:p>
            <a:pPr>
              <a:spcAft>
                <a:spcPts val="1000"/>
              </a:spcAft>
              <a:defRPr sz="1800"/>
            </a:pPr>
            <a:r>
              <a:t>Multiple re-rating contributed roughly twice as much to the stock's return as underlying earnings growth.</a:t>
            </a:r>
          </a:p>
          <a:p>
            <a:pPr>
              <a:spcAft>
                <a:spcPts val="1000"/>
              </a:spcAft>
              <a:defRPr sz="1800"/>
            </a:pPr>
            <a:r>
              <a:t>The 11–15% IPO premium looks conservative in hindsight — not aggressive — relative to today's multiple.</a:t>
            </a:r>
          </a:p>
          <a:p>
            <a:pPr>
              <a:spcAft>
                <a:spcPts val="1000"/>
              </a:spcAft>
              <a:defRPr sz="1800"/>
            </a:pPr>
            <a:r>
              <a:t>Today's shares carry meaningfully more re-rating risk than the IPO price did.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